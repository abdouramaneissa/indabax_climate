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7F0D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7F0DC"/>
                </a:solidFill>
                <a:latin typeface="Arial"/>
              </a:rPr>
              <a:t>R² — Coefficient de Détermination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9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5E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D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C5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0.9984</c:v>
                </c:pt>
                <c:pt idx="1">
                  <c:v>0.9982</c:v>
                </c:pt>
                <c:pt idx="2">
                  <c:v>0.9989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F4F9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F0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97"/>
        </c:scaling>
        <c:delete val="0"/>
        <c:axPos val="l"/>
        <c:majorGridlines>
          <c:spPr>
            <a:ln w="6350" cap="flat">
              <a:solidFill>
                <a:srgbClr val="1A5C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F0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A3C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7F0D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7F0DC"/>
                </a:solidFill>
                <a:latin typeface="Arial"/>
              </a:rPr>
              <a:t>MAE — Erreur Absolue Moyenne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9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5E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D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51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0.0812</c:v>
                </c:pt>
                <c:pt idx="1">
                  <c:v>0.0651</c:v>
                </c:pt>
                <c:pt idx="2">
                  <c:v>0.0535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F4F9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F0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5C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F0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A3C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4114800" cy="4114800"/>
          </a:xfrm>
          <a:prstGeom prst="ellipse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"/>
            <a:ext cx="2926080" cy="2926080"/>
          </a:xfrm>
          <a:prstGeom prst="ellipse">
            <a:avLst/>
          </a:prstGeom>
          <a:solidFill>
            <a:srgbClr val="2A3C35"/>
          </a:solidFill>
          <a:ln w="12700">
            <a:solidFill>
              <a:srgbClr val="2A3C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457200"/>
            <a:ext cx="1645920" cy="1645920"/>
          </a:xfrm>
          <a:prstGeom prst="ellipse">
            <a:avLst/>
          </a:prstGeom>
          <a:solidFill>
            <a:srgbClr val="2DC59A"/>
          </a:solidFill>
          <a:ln w="12700">
            <a:solidFill>
              <a:srgbClr val="2DC5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502920"/>
            <a:ext cx="777240" cy="777240"/>
          </a:xfrm>
          <a:prstGeom prst="ellipse">
            <a:avLst/>
          </a:prstGeom>
          <a:solidFill>
            <a:srgbClr val="2DC59A"/>
          </a:solidFill>
          <a:ln w="12700">
            <a:solidFill>
              <a:srgbClr val="2DC5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612648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" y="502920"/>
            <a:ext cx="3200400" cy="347472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" y="502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2E"/>
                </a:solidFill>
              </a:rPr>
              <a:t>HACKATHON INDABAX CAMEROON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la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56032" y="162763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l'Air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256032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Cameroun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256032" y="3090672"/>
            <a:ext cx="6583680" cy="27432"/>
          </a:xfrm>
          <a:prstGeom prst="rect">
            <a:avLst/>
          </a:prstGeom>
          <a:solidFill>
            <a:srgbClr val="6BAE95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" y="31821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Concentration en Particules Fines PM2.5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6032" y="3703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87 240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6032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95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59152" y="3703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359152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95"/>
                </a:solidFill>
              </a:rPr>
              <a:t>Villes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62272" y="3703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462272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95"/>
                </a:solidFill>
              </a:rPr>
              <a:t>Régions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65392" y="3703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65392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95"/>
                </a:solidFill>
              </a:rPr>
              <a:t>2020–2025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1C2B24"/>
          </a:solidFill>
          <a:ln/>
        </p:spPr>
      </p:sp>
      <p:sp>
        <p:nvSpPr>
          <p:cNvPr id="24" name="Text 21"/>
          <p:cNvSpPr/>
          <p:nvPr/>
        </p:nvSpPr>
        <p:spPr>
          <a:xfrm>
            <a:off x="182880" y="49194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AE95"/>
                </a:solidFill>
              </a:rPr>
              <a:t>HBA-Group  ·  Yaoundé, Cameroun  ·  Avril 2026  ·  github.com/AbdouramaneIssa/Indabax_Climate</a:t>
            </a:r>
            <a:endParaRPr lang="en-US" sz="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21024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3977640" cy="685800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9344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</a:rPr>
              <a:t>4ᵉ cause mondiale de mortalité prématurée (OMS)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" y="2267712"/>
            <a:ext cx="3977640" cy="685800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1401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359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</a:rPr>
              <a:t>Harmattan &amp; saison sèche : accumulation critique de PM2.5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65760" y="3072384"/>
            <a:ext cx="3977640" cy="685800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18688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" y="31638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</a:rPr>
              <a:t>Stations PM2.5 homologuées : plusieurs dizaines de milliers d'€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65760" y="3877056"/>
            <a:ext cx="3977640" cy="685800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2688" y="39684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</a:rPr>
              <a:t>40 villes sans infrastructure de surveillance continue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4663440" y="1463040"/>
            <a:ext cx="4114800" cy="3291840"/>
          </a:xfrm>
          <a:prstGeom prst="rect">
            <a:avLst/>
          </a:prstGeom>
          <a:solidFill>
            <a:srgbClr val="0B3D2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663440" y="1463040"/>
            <a:ext cx="4114800" cy="4572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1" name="Text 14"/>
          <p:cNvSpPr/>
          <p:nvPr/>
        </p:nvSpPr>
        <p:spPr>
          <a:xfrm>
            <a:off x="4754880" y="1572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ML par Proxy Météo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754880" y="20299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9F6"/>
                </a:solidFill>
              </a:rPr>
              <a:t>Estimer le PM2.5 à partir de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9F6"/>
                </a:solidFill>
              </a:rPr>
              <a:t>variables météorologiques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9F6"/>
                </a:solidFill>
              </a:rPr>
              <a:t>gratuites via Open-Meteo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754880" y="2880360"/>
            <a:ext cx="123444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4" name="Text 17"/>
          <p:cNvSpPr/>
          <p:nvPr/>
        </p:nvSpPr>
        <p:spPr>
          <a:xfrm>
            <a:off x="4754880" y="2880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80760" y="2880360"/>
            <a:ext cx="1234440" cy="411480"/>
          </a:xfrm>
          <a:prstGeom prst="rect">
            <a:avLst/>
          </a:prstGeom>
          <a:solidFill>
            <a:srgbClr val="005B4F"/>
          </a:solidFill>
          <a:ln/>
        </p:spPr>
      </p:sp>
      <p:sp>
        <p:nvSpPr>
          <p:cNvPr id="26" name="Text 19"/>
          <p:cNvSpPr/>
          <p:nvPr/>
        </p:nvSpPr>
        <p:spPr>
          <a:xfrm>
            <a:off x="6080760" y="2880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XGBoost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406640" y="2880360"/>
            <a:ext cx="123444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28" name="Text 21"/>
          <p:cNvSpPr/>
          <p:nvPr/>
        </p:nvSpPr>
        <p:spPr>
          <a:xfrm>
            <a:off x="7406640" y="2880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LightGBM ★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754880" y="3429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7F0DC"/>
                </a:solidFill>
              </a:rPr>
              <a:t>→ Application Streamlit déployée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7F0DC"/>
                </a:solidFill>
              </a:rPr>
              <a:t>pour les acteurs de santé publique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6908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7492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Données 100% open source — zéro infrastructure physique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DC5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2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MÉTHODOLOGIE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1920240" cy="109728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87 240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Observations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journalières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68880" y="1051560"/>
            <a:ext cx="1920240" cy="109728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46888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Villes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camerounaises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0" y="1051560"/>
            <a:ext cx="1920240" cy="109728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Régions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administratives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75120" y="1051560"/>
            <a:ext cx="1920240" cy="109728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67512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Features après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F0DC"/>
                </a:solidFill>
              </a:rPr>
              <a:t>ingénierie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2743200"/>
            <a:ext cx="3794760" cy="36576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2743200"/>
            <a:ext cx="54864" cy="36576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" y="2788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6"/>
                </a:solidFill>
              </a:rPr>
              <a:t>① Collecte API Open-Meteo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3163824"/>
            <a:ext cx="3794760" cy="36576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163824"/>
            <a:ext cx="54864" cy="36576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" y="32095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6"/>
                </a:solidFill>
              </a:rPr>
              <a:t>② Construction Proxy PM2.5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584448"/>
            <a:ext cx="3794760" cy="36576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584448"/>
            <a:ext cx="54864" cy="36576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" y="36301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6"/>
                </a:solidFill>
              </a:rPr>
              <a:t>③ Feature Engineering (24 vars)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4005072"/>
            <a:ext cx="3794760" cy="36576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5760" y="4005072"/>
            <a:ext cx="54864" cy="36576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9" name="Text 26"/>
          <p:cNvSpPr/>
          <p:nvPr/>
        </p:nvSpPr>
        <p:spPr>
          <a:xfrm>
            <a:off x="512064" y="40507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6"/>
                </a:solidFill>
              </a:rPr>
              <a:t>④ Variables de lag temporelles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4425696"/>
            <a:ext cx="3794760" cy="36576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4425696"/>
            <a:ext cx="54864" cy="365760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32" name="Text 29"/>
          <p:cNvSpPr/>
          <p:nvPr/>
        </p:nvSpPr>
        <p:spPr>
          <a:xfrm>
            <a:off x="512064" y="44714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6"/>
                </a:solidFill>
              </a:rPr>
              <a:t>⑤ Encodage catégoriel natif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de Features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572000" y="2743200"/>
            <a:ext cx="4206240" cy="512064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83464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02920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59A"/>
                </a:solidFill>
              </a:rPr>
              <a:t>Météo brute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029200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Temp, précip, vent, radiation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572000" y="3310128"/>
            <a:ext cx="4206240" cy="512064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401568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02920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59A"/>
                </a:solidFill>
              </a:rPr>
              <a:t>Feature engineered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5029200" y="35844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Saison sèche, amplitude, ratio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572000" y="3877056"/>
            <a:ext cx="4206240" cy="512064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968496"/>
            <a:ext cx="274320" cy="2743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02920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59A"/>
                </a:solidFill>
              </a:rPr>
              <a:t>Temporel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029200" y="4151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Lags J-1, J-7, moy. mobile 7j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4572000" y="4443984"/>
            <a:ext cx="4206240" cy="512064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535424"/>
            <a:ext cx="274320" cy="27432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029200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59A"/>
                </a:solidFill>
              </a:rPr>
              <a:t>Géographique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029200" y="4718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Lat/lon, ville (40), région (10)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DC5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 MACHINE LEARNING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" y="1005840"/>
            <a:ext cx="2743200" cy="38404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10896" y="1847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AE95"/>
                </a:solidFill>
              </a:rPr>
              <a:t>Forêt Aléatoire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10896" y="2176272"/>
            <a:ext cx="2633472" cy="27432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10" name="Text 6"/>
          <p:cNvSpPr/>
          <p:nvPr/>
        </p:nvSpPr>
        <p:spPr>
          <a:xfrm>
            <a:off x="393192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R²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5895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</a:rPr>
              <a:t>0.9984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93192" y="2542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MAE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04672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</a:rPr>
              <a:t>0.0812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93192" y="2852928"/>
            <a:ext cx="2377440" cy="256032"/>
          </a:xfrm>
          <a:prstGeom prst="rect">
            <a:avLst/>
          </a:prstGeom>
          <a:solidFill>
            <a:srgbClr val="2A3C35"/>
          </a:solidFill>
          <a:ln/>
        </p:spPr>
      </p:sp>
      <p:sp>
        <p:nvSpPr>
          <p:cNvPr id="15" name="Text 11"/>
          <p:cNvSpPr/>
          <p:nvPr/>
        </p:nvSpPr>
        <p:spPr>
          <a:xfrm>
            <a:off x="393192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#2 R² · #3 MAE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472" y="3218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Bagging : 100 arbres indépendants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Double randomisation (données + features)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7472" y="3913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Agrégation par moyenne arithmétique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7472" y="42611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Robuste aux valeurs aberrantes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182112" y="1005840"/>
            <a:ext cx="2743200" cy="3840480"/>
          </a:xfrm>
          <a:prstGeom prst="rect">
            <a:avLst/>
          </a:prstGeom>
          <a:solidFill>
            <a:srgbClr val="004D40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1556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36976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236976" y="1847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AE95"/>
                </a:solidFill>
              </a:rPr>
              <a:t>Gradient Boosting Optimisé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236976" y="2176272"/>
            <a:ext cx="2633472" cy="27432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5" name="Text 20"/>
          <p:cNvSpPr/>
          <p:nvPr/>
        </p:nvSpPr>
        <p:spPr>
          <a:xfrm>
            <a:off x="3319272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R²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68503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</a:rPr>
              <a:t>0.9982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319272" y="2542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MAE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730752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</a:rPr>
              <a:t>0.0651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3319272" y="2852928"/>
            <a:ext cx="2377440" cy="256032"/>
          </a:xfrm>
          <a:prstGeom prst="rect">
            <a:avLst/>
          </a:prstGeom>
          <a:solidFill>
            <a:srgbClr val="2A3C35"/>
          </a:solidFill>
          <a:ln/>
        </p:spPr>
      </p:sp>
      <p:sp>
        <p:nvSpPr>
          <p:cNvPr id="30" name="Text 25"/>
          <p:cNvSpPr/>
          <p:nvPr/>
        </p:nvSpPr>
        <p:spPr>
          <a:xfrm>
            <a:off x="3319272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#3 R² · #2 MAE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273552" y="3218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Boosting séquentiel level-wise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273552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Correction itérative des résidus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3273552" y="3913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Régularisation L1+L2 intégrée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3273552" y="42611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Early stopping (50 rounds)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108192" y="1005840"/>
            <a:ext cx="2743200" cy="3840480"/>
          </a:xfrm>
          <a:prstGeom prst="rect">
            <a:avLst/>
          </a:prstGeom>
          <a:solidFill>
            <a:srgbClr val="0B3D2E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108192" y="1005840"/>
            <a:ext cx="2743200" cy="73152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15568"/>
            <a:ext cx="384048" cy="3840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163056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★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6163056" y="1847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AE95"/>
                </a:solidFill>
              </a:rPr>
              <a:t>Le Modèle Champion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163056" y="2176272"/>
            <a:ext cx="2633472" cy="27432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41" name="Text 35"/>
          <p:cNvSpPr/>
          <p:nvPr/>
        </p:nvSpPr>
        <p:spPr>
          <a:xfrm>
            <a:off x="6245352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R²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661111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6"/>
                </a:solidFill>
              </a:rPr>
              <a:t>0.9989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6245352" y="2542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MAE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6656832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0.0535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6245352" y="2852928"/>
            <a:ext cx="2377440" cy="256032"/>
          </a:xfrm>
          <a:prstGeom prst="rect">
            <a:avLst/>
          </a:prstGeom>
          <a:solidFill>
            <a:srgbClr val="2A3C35"/>
          </a:solidFill>
          <a:ln/>
        </p:spPr>
      </p:sp>
      <p:sp>
        <p:nvSpPr>
          <p:cNvPr id="46" name="Text 40"/>
          <p:cNvSpPr/>
          <p:nvPr/>
        </p:nvSpPr>
        <p:spPr>
          <a:xfrm>
            <a:off x="6245352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59A"/>
                </a:solidFill>
              </a:rPr>
              <a:t>#1 R² · #1 MAE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199632" y="3218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Croissance leaf-wise (focus erreurs max)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6199632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GOSS : sampling par gradient résiduel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6199632" y="3913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EFB : features exclusives groupées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6199632" y="42611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5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B7F0DC"/>
                </a:solidFill>
              </a:rPr>
              <a:t>Catégorielles natives (40 villes !)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DC59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B2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COMPARAISON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LightGBM vs Random Forest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365760" y="3822192"/>
            <a:ext cx="2011680" cy="91440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36576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−26,7 %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36576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MAE réduit de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542032" y="3822192"/>
            <a:ext cx="2011680" cy="91440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2542032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+0,0005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2542032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R² amélioré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718304" y="3822192"/>
            <a:ext cx="2011680" cy="91440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718304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0,0535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718304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MAE final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894576" y="3822192"/>
            <a:ext cx="2011680" cy="91440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894576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0,9989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894576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AE95"/>
                </a:solidFill>
              </a:rPr>
              <a:t>R² final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1C2B24"/>
          </a:solidFill>
          <a:ln/>
        </p:spPr>
      </p:sp>
      <p:sp>
        <p:nvSpPr>
          <p:cNvPr id="21" name="Text 16"/>
          <p:cNvSpPr/>
          <p:nvPr/>
        </p:nvSpPr>
        <p:spPr>
          <a:xfrm>
            <a:off x="182880" y="49194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AE95"/>
                </a:solidFill>
              </a:rPr>
              <a:t>Seuils OMS : Bon &lt;15 μg/m³ · Modéré 15-25 μg/m³ · Mauvais &gt;25 μg/m³  |  LightGBM : Champion incontesté sur les deux métriques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— DASHBOARD STREAMLIT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Fonctionnels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3931920" cy="1024128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63040"/>
            <a:ext cx="64008" cy="1024128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184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536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Principal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51560" y="18653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KPIs, carte choroplèthe Plotly,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statistiques par région &amp; mois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606040"/>
            <a:ext cx="3931920" cy="1024128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2606040"/>
            <a:ext cx="64008" cy="1024128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" y="267919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6148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679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Climatique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51560" y="30083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40 villes · sliders météo · prédiction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PM2.5 en temps réel (gauge colorée)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3749040"/>
            <a:ext cx="3931920" cy="1024128"/>
          </a:xfrm>
          <a:prstGeom prst="rect">
            <a:avLst/>
          </a:prstGeom>
          <a:solidFill>
            <a:srgbClr val="E6F4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3749040"/>
            <a:ext cx="64008" cy="1024128"/>
          </a:xfrm>
          <a:prstGeom prst="rect">
            <a:avLst/>
          </a:prstGeom>
          <a:solidFill>
            <a:srgbClr val="2DC59A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" y="382219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0448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d'Alerte OMS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51560" y="41513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Classification vert / orange / rouge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24"/>
                </a:solidFill>
              </a:rPr>
              <a:t>avec recommandations sanitaires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663440" y="1463040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53619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Python 3.11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720840" y="1463040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536192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04888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Streamlit 1.35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938528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011680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47488" y="2002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LightGBM 4.3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720840" y="1938528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2011680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04888" y="2002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Plotly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663440" y="2414016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487168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47488" y="2478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Pandas &amp; NumPy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6720840" y="2414016"/>
            <a:ext cx="1920240" cy="384048"/>
          </a:xfrm>
          <a:prstGeom prst="rect">
            <a:avLst/>
          </a:prstGeom>
          <a:solidFill>
            <a:srgbClr val="0B3D2E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2487168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104888" y="2478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F0DC"/>
                </a:solidFill>
              </a:rPr>
              <a:t>joblib (sérialisation)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4663440" y="2999232"/>
            <a:ext cx="4114800" cy="1554480"/>
          </a:xfrm>
          <a:prstGeom prst="rect">
            <a:avLst/>
          </a:prstGeom>
          <a:solidFill>
            <a:srgbClr val="0B3D2E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4663440" y="2999232"/>
            <a:ext cx="41148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5" name="Text 33"/>
          <p:cNvSpPr/>
          <p:nvPr/>
        </p:nvSpPr>
        <p:spPr>
          <a:xfrm>
            <a:off x="4754880" y="3090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Accès Public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4754880" y="3438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C59A"/>
                </a:solidFill>
              </a:rPr>
              <a:t>indabaxclimate-kv4zlieoetpremkwjf7yww.streamlit.app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4754880" y="3767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95"/>
                </a:solidFill>
              </a:rPr>
              <a:t>Code source GitHub :</a:t>
            </a:r>
            <a:endParaRPr lang="en-US" sz="1000" dirty="0"/>
          </a:p>
        </p:txBody>
      </p:sp>
      <p:sp>
        <p:nvSpPr>
          <p:cNvPr id="48" name="Text 36"/>
          <p:cNvSpPr/>
          <p:nvPr/>
        </p:nvSpPr>
        <p:spPr>
          <a:xfrm>
            <a:off x="4754880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C59A"/>
                </a:solidFill>
              </a:rPr>
              <a:t>github.com/AbdouramaneIssa/Indabax_Climate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475488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A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&amp;&amp;  streamlit run app.py</a:t>
            </a:r>
            <a:endParaRPr lang="en-US" sz="850" dirty="0"/>
          </a:p>
        </p:txBody>
      </p:sp>
      <p:sp>
        <p:nvSpPr>
          <p:cNvPr id="50" name="Shape 3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DC59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B2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3200400" cy="278892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3200400" cy="73152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568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Recommandé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15727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3200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AE95"/>
                </a:solidFill>
              </a:rPr>
              <a:t>R²  </a:t>
            </a:r>
            <a:pPr algn="ctr" indent="0" marL="0">
              <a:buNone/>
            </a:pPr>
            <a:r>
              <a:rPr lang="en-US" sz="1200" b="1" dirty="0">
                <a:solidFill>
                  <a:srgbClr val="F4F9F6"/>
                </a:solidFill>
              </a:rPr>
              <a:t>0,9989</a:t>
            </a:r>
            <a:pPr algn="ctr" indent="0" marL="0">
              <a:buNone/>
            </a:pPr>
            <a:r>
              <a:rPr lang="en-US" sz="1200" dirty="0">
                <a:solidFill>
                  <a:srgbClr val="6BAE95"/>
                </a:solidFill>
              </a:rPr>
              <a:t>  ·  MAE  </a:t>
            </a:r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0,0535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" y="26334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C59A"/>
                </a:solidFill>
              </a:rPr>
              <a:t>✓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7F0DC"/>
                </a:solidFill>
              </a:rPr>
              <a:t>Meilleur R² et MAE simultanément
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C59A"/>
                </a:solidFill>
              </a:rPr>
              <a:t>✓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7F0DC"/>
                </a:solidFill>
              </a:rPr>
              <a:t>Gestion native 40 villes / 10 régions
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C59A"/>
                </a:solidFill>
              </a:rPr>
              <a:t>✓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7F0DC"/>
                </a:solidFill>
              </a:rPr>
              <a:t>Déployé en production Streamlit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9476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794760" y="1444752"/>
            <a:ext cx="5029200" cy="54864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94760" y="1444752"/>
            <a:ext cx="438912" cy="54864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15" name="Text 11"/>
          <p:cNvSpPr/>
          <p:nvPr/>
        </p:nvSpPr>
        <p:spPr>
          <a:xfrm>
            <a:off x="3794760" y="144475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97680" y="14904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9F6"/>
                </a:solidFill>
              </a:rPr>
              <a:t>Optimisation hyperparamètres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97680" y="172821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Optuna/Hyperopt → gains MAE estimés 5–15 %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94760" y="2066544"/>
            <a:ext cx="5029200" cy="54864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94760" y="2066544"/>
            <a:ext cx="438912" cy="54864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20" name="Text 16"/>
          <p:cNvSpPr/>
          <p:nvPr/>
        </p:nvSpPr>
        <p:spPr>
          <a:xfrm>
            <a:off x="3794760" y="2066544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297680" y="211226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9F6"/>
                </a:solidFill>
              </a:rPr>
              <a:t>Validation temporelle stricte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297680" y="23500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Train 2020–2024 · Test 2025 (chronologique)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94760" y="2688336"/>
            <a:ext cx="5029200" cy="54864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94760" y="2688336"/>
            <a:ext cx="438912" cy="54864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25" name="Text 21"/>
          <p:cNvSpPr/>
          <p:nvPr/>
        </p:nvSpPr>
        <p:spPr>
          <a:xfrm>
            <a:off x="3794760" y="2688336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297680" y="273405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9F6"/>
                </a:solidFill>
              </a:rPr>
              <a:t>Enrichissement données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297680" y="297180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NASA MODIS, MERRA-2 pour proxy plus robuste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794760" y="3310128"/>
            <a:ext cx="5029200" cy="54864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94760" y="3310128"/>
            <a:ext cx="438912" cy="54864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310128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297680" y="335584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9F6"/>
                </a:solidFill>
              </a:rPr>
              <a:t>Validation terrain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297680" y="359359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Capteurs low-cost PurpleAir dans villes cibles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794760" y="3931920"/>
            <a:ext cx="5029200" cy="548640"/>
          </a:xfrm>
          <a:prstGeom prst="rect">
            <a:avLst/>
          </a:prstGeom>
          <a:solidFill>
            <a:srgbClr val="2A3C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794760" y="3931920"/>
            <a:ext cx="438912" cy="54864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35" name="Text 31"/>
          <p:cNvSpPr/>
          <p:nvPr/>
        </p:nvSpPr>
        <p:spPr>
          <a:xfrm>
            <a:off x="3794760" y="393192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4297680" y="397764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9F6"/>
                </a:solidFill>
              </a:rPr>
              <a:t>Extension régionale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297680" y="421538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E95"/>
                </a:solidFill>
              </a:rPr>
              <a:t>RDC, Gabon, Tchad — plateforme panafricaine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20040" y="3913632"/>
            <a:ext cx="8503920" cy="777240"/>
          </a:xfrm>
          <a:prstGeom prst="rect">
            <a:avLst/>
          </a:prstGeom>
          <a:solidFill>
            <a:srgbClr val="1A5C4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41648"/>
            <a:ext cx="438912" cy="4389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05840" y="39502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4F9F6"/>
                </a:solidFill>
              </a:rPr>
              <a:t>"L'IA au service de la résilience climatique et sanitaire" — Solution réplicable à travers l'Afrique subsaharienne,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4F9F6"/>
                </a:solidFill>
              </a:rPr>
              <a:t>zéro infrastructure physique, données 100% open source, applicable dès aujourd'hui.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1C2B24"/>
          </a:solidFill>
          <a:ln/>
        </p:spPr>
      </p:sp>
      <p:sp>
        <p:nvSpPr>
          <p:cNvPr id="42" name="Text 37"/>
          <p:cNvSpPr/>
          <p:nvPr/>
        </p:nvSpPr>
        <p:spPr>
          <a:xfrm>
            <a:off x="182880" y="49194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AE95"/>
                </a:solidFill>
              </a:rPr>
              <a:t>HBA-Group  ·  Hackathon IndabaX Cameroon 2026  ·  Yaoundé, Cameroun  ·  Avril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PM2.5 Cameroun — IndabaX 2026</dc:title>
  <dc:subject>PptxGenJS Presentation</dc:subject>
  <dc:creator>HBA-Group</dc:creator>
  <cp:lastModifiedBy>HBA-Group</cp:lastModifiedBy>
  <cp:revision>1</cp:revision>
  <dcterms:created xsi:type="dcterms:W3CDTF">2026-04-07T18:16:04Z</dcterms:created>
  <dcterms:modified xsi:type="dcterms:W3CDTF">2026-04-07T18:16:04Z</dcterms:modified>
</cp:coreProperties>
</file>